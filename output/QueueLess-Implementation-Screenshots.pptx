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3a42cc1d84364" /><Relationship Type="http://schemas.openxmlformats.org/officeDocument/2006/relationships/extended-properties" Target="/docProps/app.xml" Id="R71663b75555b4ab4" /><Relationship Type="http://schemas.openxmlformats.org/officeDocument/2006/relationships/officeDocument" Target="/ppt/presentation.xml" Id="R9b8b6acb5f4e49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412bc2caf4056"/>
  </p:sldMasterIdLst>
  <p:notesMasterIdLst>
    <p:notesMasterId xmlns:r="http://schemas.openxmlformats.org/officeDocument/2006/relationships" r:id="R0ce9e0cc97d6457b"/>
  </p:notesMasterIdLst>
  <p:sldIdLst>
    <p:sldId xmlns:r="http://schemas.openxmlformats.org/officeDocument/2006/relationships" id="256" r:id="Rde74427486ff4bd6"/>
    <p:sldId xmlns:r="http://schemas.openxmlformats.org/officeDocument/2006/relationships" id="257" r:id="R8a49f33135744082"/>
    <p:sldId xmlns:r="http://schemas.openxmlformats.org/officeDocument/2006/relationships" id="258" r:id="R1990fd3c9dc84979"/>
    <p:sldId xmlns:r="http://schemas.openxmlformats.org/officeDocument/2006/relationships" id="259" r:id="Re3551df0b788495d"/>
    <p:sldId xmlns:r="http://schemas.openxmlformats.org/officeDocument/2006/relationships" id="260" r:id="Rd1f11d6d0a404fe9"/>
    <p:sldId xmlns:r="http://schemas.openxmlformats.org/officeDocument/2006/relationships" id="261" r:id="Rd063f5346ecd4798"/>
    <p:sldId xmlns:r="http://schemas.openxmlformats.org/officeDocument/2006/relationships" id="262" r:id="R9d819f9a428b45fd"/>
    <p:sldId xmlns:r="http://schemas.openxmlformats.org/officeDocument/2006/relationships" id="263" r:id="R178cf04cd2f34408"/>
    <p:sldId xmlns:r="http://schemas.openxmlformats.org/officeDocument/2006/relationships" id="264" r:id="R3755cbee38ae4503"/>
    <p:sldId xmlns:r="http://schemas.openxmlformats.org/officeDocument/2006/relationships" id="265" r:id="R1d4674a021d54395"/>
    <p:sldId xmlns:r="http://schemas.openxmlformats.org/officeDocument/2006/relationships" id="266" r:id="Rc8f73a25f2eb469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3cdfb7d134cec" /><Relationship Type="http://schemas.openxmlformats.org/officeDocument/2006/relationships/slideMaster" Target="/ppt/slideMasters/slideMaster1.xml" Id="R63e412bc2caf4056" /><Relationship Type="http://schemas.openxmlformats.org/officeDocument/2006/relationships/notesMaster" Target="/ppt/notesMasters/notesMaster1.xml" Id="R0ce9e0cc97d6457b" /><Relationship Type="http://schemas.openxmlformats.org/officeDocument/2006/relationships/presProps" Target="/ppt/presProps.xml" Id="R944e45b9d38a4150" /><Relationship Type="http://schemas.openxmlformats.org/officeDocument/2006/relationships/tableStyles" Target="/ppt/tableStyles.xml" Id="R9bfa5813ba434633" /><Relationship Type="http://schemas.openxmlformats.org/officeDocument/2006/relationships/slide" Target="/ppt/slides/slide1.xml" Id="Rde74427486ff4bd6" /><Relationship Type="http://schemas.openxmlformats.org/officeDocument/2006/relationships/slide" Target="/ppt/slides/slide2.xml" Id="R8a49f33135744082" /><Relationship Type="http://schemas.openxmlformats.org/officeDocument/2006/relationships/slide" Target="/ppt/slides/slide3.xml" Id="R1990fd3c9dc84979" /><Relationship Type="http://schemas.openxmlformats.org/officeDocument/2006/relationships/slide" Target="/ppt/slides/slide4.xml" Id="Re3551df0b788495d" /><Relationship Type="http://schemas.openxmlformats.org/officeDocument/2006/relationships/slide" Target="/ppt/slides/slide5.xml" Id="Rd1f11d6d0a404fe9" /><Relationship Type="http://schemas.openxmlformats.org/officeDocument/2006/relationships/slide" Target="/ppt/slides/slide6.xml" Id="Rd063f5346ecd4798" /><Relationship Type="http://schemas.openxmlformats.org/officeDocument/2006/relationships/slide" Target="/ppt/slides/slide7.xml" Id="R9d819f9a428b45fd" /><Relationship Type="http://schemas.openxmlformats.org/officeDocument/2006/relationships/slide" Target="/ppt/slides/slide8.xml" Id="R178cf04cd2f34408" /><Relationship Type="http://schemas.openxmlformats.org/officeDocument/2006/relationships/slide" Target="/ppt/slides/slide9.xml" Id="R3755cbee38ae4503" /><Relationship Type="http://schemas.openxmlformats.org/officeDocument/2006/relationships/slide" Target="/ppt/slides/slide10.xml" Id="R1d4674a021d54395" /><Relationship Type="http://schemas.openxmlformats.org/officeDocument/2006/relationships/slide" Target="/ppt/slides/slide11.xml" Id="Rc8f73a25f2eb46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0fa9b0b66a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5d8a07f3694fd1" /><Relationship Type="http://schemas.openxmlformats.org/officeDocument/2006/relationships/notesMaster" Target="/ppt/notesMasters/notesMaster1.xml" Id="R9f2841e0a8a8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5584dc492a4c8c" /><Relationship Type="http://schemas.openxmlformats.org/officeDocument/2006/relationships/notesMaster" Target="/ppt/notesMasters/notesMaster1.xml" Id="R925bfa645e3940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3081b6798407f" /><Relationship Type="http://schemas.openxmlformats.org/officeDocument/2006/relationships/notesMaster" Target="/ppt/notesMasters/notesMaster1.xml" Id="R7ac9601d5d2d44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b09fd3d3aa4b39" /><Relationship Type="http://schemas.openxmlformats.org/officeDocument/2006/relationships/notesMaster" Target="/ppt/notesMasters/notesMaster1.xml" Id="R205f3888e36540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e5d334aaac4be6" /><Relationship Type="http://schemas.openxmlformats.org/officeDocument/2006/relationships/notesMaster" Target="/ppt/notesMasters/notesMaster1.xml" Id="Rf1c8b5e562d7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d3be9d054c4c9a" /><Relationship Type="http://schemas.openxmlformats.org/officeDocument/2006/relationships/notesMaster" Target="/ppt/notesMasters/notesMaster1.xml" Id="R469ebff7e18f43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ef7759051f4648" /><Relationship Type="http://schemas.openxmlformats.org/officeDocument/2006/relationships/notesMaster" Target="/ppt/notesMasters/notesMaster1.xml" Id="Rd477903914ba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ba608392c4f95" /><Relationship Type="http://schemas.openxmlformats.org/officeDocument/2006/relationships/notesMaster" Target="/ppt/notesMasters/notesMaster1.xml" Id="R13d2bb62a0234d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c47d297754117" /><Relationship Type="http://schemas.openxmlformats.org/officeDocument/2006/relationships/notesMaster" Target="/ppt/notesMasters/notesMaster1.xml" Id="Rdc3e308390f5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ca4fa2fdb6499b" /><Relationship Type="http://schemas.openxmlformats.org/officeDocument/2006/relationships/notesMaster" Target="/ppt/notesMasters/notesMaster1.xml" Id="R0e7a42aaf86740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6cfa4c1b1a4d21" /><Relationship Type="http://schemas.openxmlformats.org/officeDocument/2006/relationships/notesMaster" Target="/ppt/notesMasters/notesMaster1.xml" Id="R3fad948a5373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QueueLess implementation screenshot presentation. Existing project screenshots document recorded application states, rather than a live walkthrough. Browser captures span 11–18 October 2026. JavaFX captures are from the isolated test workflow on 18 October. Sources: C:/Users/Rishit/Documents/ChatGPT/Queueless/.local/evidence and C:/Users/Rishit/Documents/ChatGPT/Queueless/queueless-desktop/target/fx-smoke.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C:/Users/Rishit/Documents/ChatGPT/Queueless/.local/evidence/overview-focused.png</a:t>
            </a:r>
          </a:p>
          <a:p xmlns:a="http://schemas.openxmlformats.org/drawingml/2006/main">
            <a:r>
              <a:t>Recorded browser state, 17 October 2026. Counts reflect this capture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C:/Users/Rishit/Documents/ChatGPT/Queueless/.local/evidence/ux-visits.png</a:t>
            </a:r>
          </a:p>
          <a:p xmlns:a="http://schemas.openxmlformats.org/drawingml/2006/main">
            <a:r>
              <a:t>Recorded browser state, 18 October 2026. The selected service is Student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C:/Users/Rishit/Documents/ChatGPT/Queueless/.local/evidence/visits-focused.png</a:t>
            </a:r>
          </a:p>
          <a:p xmlns:a="http://schemas.openxmlformats.org/drawingml/2006/main">
            <a:r>
              <a:t>Recorded 17 October 2026. This slide shows a detail crop of the lower visit table. The screenshot preserves the original captured state and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C:/Users/Rishit/Documents/ChatGPT/Queueless/.local/evidence/separate-appointments-mobile.png (17 October 2026); C:/Users/Rishit/Documents/ChatGPT/Queueless/.local/evidence/browser-appointment-checkin.jpg (11 October 2026).</a:t>
            </a:r>
          </a:p>
          <a:p xmlns:a="http://schemas.openxmlformats.org/drawingml/2006/main">
            <a:r>
              <a:t>The earlier desktop capture predates the separate workspace pages and test-fixture cleanup. Its success banner reads "Checked in. Token 1-2 issued." It documents the recorded result, not the current page layout. See docs/verification.md and docs/demonstration.md.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C:/Users/Rishit/Documents/ChatGPT/Queueless/.local/evidence/ux-notifications.png</a:t>
            </a:r>
          </a:p>
          <a:p xmlns:a="http://schemas.openxmlformats.org/drawingml/2006/main">
            <a:r>
              <a:t>Recorded 18 October 2026. This is an internal application inbox. It does not represent email or SMS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C:/Users/Rishit/Documents/ChatGPT/Queueless/.local/evidence/ux-pending-refresh-protected.png</a:t>
            </a:r>
          </a:p>
          <a:p xmlns:a="http://schemas.openxmlformats.org/drawingml/2006/main">
            <a:r>
              <a:t>Recorded 18 October 2026 during an intentional lost-response check. The visible warning blocks other commands until the existing request outcome is resolved. See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C:/Users/Rishit/Documents/ChatGPT/Queueless/queueless-desktop/target/fx-smoke/desktop-login.png</a:t>
            </a:r>
          </a:p>
          <a:p xmlns:a="http://schemas.openxmlformats.org/drawingml/2006/main">
            <a:r>
              <a:t>Captured 18 October 2026 during isolated JavaFX integration testing. Test fixtures use a separate backend on port 18081 and the dedicated test database.</a:t>
            </a:r>
          </a:p>
          <a:p xmlns:a="http://schemas.openxmlformats.org/drawingml/2006/main">
            <a:r>
              <a:t>Source: C:/Users/Rishit/Documents/ChatGPT/Queueless/docs/verification.md</a:t>
            </a:r>
          </a:p>
          <a:p xmlns:a="http://schemas.openxmlformats.org/drawingml/2006/main">
            <a:r>
              <a:t>Backend address and staff credentials open the operations console.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C:/Users/Rishit/Documents/ChatGPT/Queueless/queueless-desktop/target/fx-smoke/desktop-waiting.png</a:t>
            </a:r>
          </a:p>
          <a:p xmlns:a="http://schemas.openxmlformats.org/drawingml/2006/main">
            <a:r>
              <a:t>Captured 18 October 2026 during isolated JavaFX integration testing. Test fixtures use a separate backend on port 18081 and the dedicated test database.</a:t>
            </a:r>
          </a:p>
          <a:p xmlns:a="http://schemas.openxmlformats.org/drawingml/2006/main">
            <a:r>
              <a:t>Source: C:/Users/Rishit/Documents/ChatGPT/Queueless/docs/verification.md</a:t>
            </a:r>
          </a:p>
          <a:p xmlns:a="http://schemas.openxmlformats.org/drawingml/2006/main">
            <a:r>
              <a:t>One visit is waiting. The counter has no active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C:/Users/Rishit/Documents/ChatGPT/Queueless/queueless-desktop/target/fx-smoke/desktop-called.png</a:t>
            </a:r>
          </a:p>
          <a:p xmlns:a="http://schemas.openxmlformats.org/drawingml/2006/main">
            <a:r>
              <a:t>Captured 18 October 2026 during isolated JavaFX integration testing. Test fixtures use a separate backend on port 18081 and the dedicated test database.</a:t>
            </a:r>
          </a:p>
          <a:p xmlns:a="http://schemas.openxmlformats.org/drawingml/2006/main">
            <a:r>
              <a:t>Source: C:/Users/Rishit/Documents/ChatGPT/Queueless/docs/verification.md</a:t>
            </a:r>
          </a:p>
          <a:p xmlns:a="http://schemas.openxmlformats.org/drawingml/2006/main">
            <a:r>
              <a:t>The visit is CALLED. Start service is available for the claimed counter.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C:/Users/Rishit/Documents/ChatGPT/Queueless/queueless-desktop/target/fx-smoke/desktop-completed.png</a:t>
            </a:r>
          </a:p>
          <a:p xmlns:a="http://schemas.openxmlformats.org/drawingml/2006/main">
            <a:r>
              <a:t>Captured 18 October 2026 during isolated JavaFX integration testing. Test fixtures use a separate backend on port 18081 and the dedicated test database.</a:t>
            </a:r>
          </a:p>
          <a:p xmlns:a="http://schemas.openxmlformats.org/drawingml/2006/main">
            <a:r>
              <a:t>Source: C:/Users/Rishit/Documents/ChatGPT/Queueless/docs/verification.md</a:t>
            </a:r>
          </a:p>
          <a:p xmlns:a="http://schemas.openxmlformats.org/drawingml/2006/main">
            <a:r>
              <a:t>The row shows COMPLETED. The counter has no active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c4ee382014a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faeabfa4244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bd232590d48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8f4001cc24b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462ac66c44e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26bfe77d64a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851A82-6984-4D1F-B031-C82C5AD20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471DE5-2B78-40A5-927C-CE05BDE645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213F21-5349-4E77-A1B1-68A86CFB6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63C3E-047D-4F9E-9025-BA8E07FAF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8D7860-2516-415C-B5EC-AAFD1C3BF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3991C0-D884-4185-98E9-9D9554636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A47FF6-E021-4DB4-BC87-C4BD849C62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A6DF7E-3059-4B40-A375-3242EFD895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644FD2-697F-47C6-8834-FCFB0F0CE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41B928-1A78-4439-BEE8-0C552AA1D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7d445d04194220" /><Relationship Type="http://schemas.openxmlformats.org/officeDocument/2006/relationships/slideLayout" Target="/ppt/slideLayouts/slideLayout1.xml" Id="R104d7e5c4b74453e" /><Relationship Type="http://schemas.openxmlformats.org/officeDocument/2006/relationships/slideLayout" Target="/ppt/slideLayouts/slideLayout2.xml" Id="Rb0aa4718e3924755" /><Relationship Type="http://schemas.openxmlformats.org/officeDocument/2006/relationships/slideLayout" Target="/ppt/slideLayouts/slideLayout3.xml" Id="R60efc8dd211b40f9" /><Relationship Type="http://schemas.openxmlformats.org/officeDocument/2006/relationships/slideLayout" Target="/ppt/slideLayouts/slideLayout4.xml" Id="R7fda4876f3b64064" /><Relationship Type="http://schemas.openxmlformats.org/officeDocument/2006/relationships/slideLayout" Target="/ppt/slideLayouts/slideLayout5.xml" Id="R6b33a689ca6b415a" /><Relationship Type="http://schemas.openxmlformats.org/officeDocument/2006/relationships/slideLayout" Target="/ppt/slideLayouts/slideLayout6.xml" Id="R19585aadb3e94e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4d7e5c4b74453e"/>
    <p:sldLayoutId xmlns:r="http://schemas.openxmlformats.org/officeDocument/2006/relationships" id="2147483650" r:id="Rb0aa4718e3924755"/>
    <p:sldLayoutId xmlns:r="http://schemas.openxmlformats.org/officeDocument/2006/relationships" id="2147483651" r:id="R60efc8dd211b40f9"/>
    <p:sldLayoutId xmlns:r="http://schemas.openxmlformats.org/officeDocument/2006/relationships" id="2147483652" r:id="R7fda4876f3b64064"/>
    <p:sldLayoutId xmlns:r="http://schemas.openxmlformats.org/officeDocument/2006/relationships" id="2147483653" r:id="R6b33a689ca6b415a"/>
    <p:sldLayoutId xmlns:r="http://schemas.openxmlformats.org/officeDocument/2006/relationships" id="2147483654" r:id="R19585aadb3e94e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74eb4bf934482" /><Relationship Type="http://schemas.openxmlformats.org/officeDocument/2006/relationships/notesSlide" Target="/ppt/notesSlides/notesSlide1.xml" Id="Rb6c2f73e10f04e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372e2f4ce43f5" /><Relationship Type="http://schemas.openxmlformats.org/officeDocument/2006/relationships/image" Target="/ppt/media/image.jpeg" Id="R25d92bf49af84f17" /><Relationship Type="http://schemas.openxmlformats.org/officeDocument/2006/relationships/notesSlide" Target="/ppt/notesSlides/notesSlide2.xml" Id="R355c58af128442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734bfee33425c" /><Relationship Type="http://schemas.openxmlformats.org/officeDocument/2006/relationships/image" Target="/ppt/media/image2.jpeg" Id="R6787da7631894f35" /><Relationship Type="http://schemas.openxmlformats.org/officeDocument/2006/relationships/notesSlide" Target="/ppt/notesSlides/notesSlide3.xml" Id="R9aa6a5a4c49e42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1d8000b414e56" /><Relationship Type="http://schemas.openxmlformats.org/officeDocument/2006/relationships/image" Target="/ppt/media/image3.jpeg" Id="R22c88586744e43a5" /><Relationship Type="http://schemas.openxmlformats.org/officeDocument/2006/relationships/notesSlide" Target="/ppt/notesSlides/notesSlide4.xml" Id="Rfd297ca8594241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43ce2da7f4459" /><Relationship Type="http://schemas.openxmlformats.org/officeDocument/2006/relationships/image" Target="/ppt/media/image4.jpeg" Id="R448c52ce1e1a4721" /><Relationship Type="http://schemas.openxmlformats.org/officeDocument/2006/relationships/image" Target="/ppt/media/image5.jpeg" Id="R94528f10371545f9" /><Relationship Type="http://schemas.openxmlformats.org/officeDocument/2006/relationships/notesSlide" Target="/ppt/notesSlides/notesSlide5.xml" Id="R3ef2b696fa67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7863d133947bb" /><Relationship Type="http://schemas.openxmlformats.org/officeDocument/2006/relationships/image" Target="/ppt/media/image6.jpeg" Id="R6bd00cc206f94e19" /><Relationship Type="http://schemas.openxmlformats.org/officeDocument/2006/relationships/notesSlide" Target="/ppt/notesSlides/notesSlide6.xml" Id="R3e79ef6f66534c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3cdc64fda4b6f" /><Relationship Type="http://schemas.openxmlformats.org/officeDocument/2006/relationships/image" Target="/ppt/media/image7.jpeg" Id="R1501ab21dfb84b9b" /><Relationship Type="http://schemas.openxmlformats.org/officeDocument/2006/relationships/notesSlide" Target="/ppt/notesSlides/notesSlide7.xml" Id="R3b69fa7562c14d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d5ac3941641f7" /><Relationship Type="http://schemas.openxmlformats.org/officeDocument/2006/relationships/image" Target="/ppt/media/image.png" Id="Ra2124e0372b2458f" /><Relationship Type="http://schemas.openxmlformats.org/officeDocument/2006/relationships/notesSlide" Target="/ppt/notesSlides/notesSlide8.xml" Id="Rea7472d9dd81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45f8f9fbc4420" /><Relationship Type="http://schemas.openxmlformats.org/officeDocument/2006/relationships/image" Target="/ppt/media/image2.png" Id="Rd092f2a2465340cb" /><Relationship Type="http://schemas.openxmlformats.org/officeDocument/2006/relationships/notesSlide" Target="/ppt/notesSlides/notesSlide9.xml" Id="R403c03bb725f47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ae2dd401341e9" /><Relationship Type="http://schemas.openxmlformats.org/officeDocument/2006/relationships/image" Target="/ppt/media/image3.png" Id="R11f9a9d72ca64830" /><Relationship Type="http://schemas.openxmlformats.org/officeDocument/2006/relationships/notesSlide" Target="/ppt/notesSlides/notesSlide10.xml" Id="R4ce6d349994940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f8d83724a41df" /><Relationship Type="http://schemas.openxmlformats.org/officeDocument/2006/relationships/image" Target="/ppt/media/image4.png" Id="R490bbcba8fcc4d59" /><Relationship Type="http://schemas.openxmlformats.org/officeDocument/2006/relationships/notesSlide" Target="/ppt/notesSlides/notesSlide11.xml" Id="R67de040999dd4f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F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duct">
            <a:extLst xmlns:a="http://schemas.openxmlformats.org/drawingml/2006/main">
              <a:ext uri="{FF2B5EF4-FFF2-40B4-BE49-F238E27FC236}">
                <a16:creationId xmlns:a16="http://schemas.microsoft.com/office/drawing/2014/main" id="{7D37F193-01DC-4E8A-8079-6E1C12E4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285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7FBF8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7FBF8"/>
                </a:solidFill>
                <a:latin typeface="Arial"/>
                <a:ea typeface="Arial"/>
                <a:cs typeface="Arial"/>
              </a:rPr>
              <a:t>QueueLess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2829CE1D-ECDC-40AA-9CEF-6418D8EB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1238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A8D9C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A8D9C6"/>
                </a:solidFill>
                <a:latin typeface="Arial"/>
                <a:ea typeface="Arial"/>
                <a:cs typeface="Arial"/>
              </a:rPr>
              <a:t>Implementation output</a:t>
            </a:r>
          </a:p>
        </p:txBody>
      </p:sp>
      <p:sp>
        <p:nvSpPr>
          <p:cNvPr id="3" name="deck-description">
            <a:extLst xmlns:a="http://schemas.openxmlformats.org/drawingml/2006/main">
              <a:ext uri="{FF2B5EF4-FFF2-40B4-BE49-F238E27FC236}">
                <a16:creationId xmlns:a16="http://schemas.microsoft.com/office/drawing/2014/main" id="{00CB29B7-83FC-482D-BE6A-8748763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0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7E8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8E1"/>
                </a:solidFill>
                <a:latin typeface="Arial"/>
                <a:ea typeface="Arial"/>
                <a:cs typeface="Arial"/>
              </a:rPr>
              <a:t>Screenshots of the browser application and JavaFX staff console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16059590-DF14-4F6F-9827-1C30BA00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381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8C4B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C4BB"/>
                </a:solidFill>
                <a:latin typeface="Arial"/>
                <a:ea typeface="Arial"/>
                <a:cs typeface="Arial"/>
              </a:rPr>
              <a:t>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05813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CAA379-4173-43E0-85C6-37B5BD1A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C6A6A8B6-B7ED-4EBB-9285-3A62DF2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A summary of visits, appointments and unread updates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0C5C57F-B2AA-4DD9-B29F-F3114092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65940-6402-47FE-8828-873FE45EB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92bf49af84f17"/>
          <a:stretch xmlns:a="http://schemas.openxmlformats.org/drawingml/2006/main"/>
        </p:blipFill>
        <p:spPr>
          <a:xfrm xmlns:a="http://schemas.openxmlformats.org/drawingml/2006/main">
            <a:off x="2116667" y="1524000"/>
            <a:ext cx="11006667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97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0B47B1-D448-4418-8FC4-28BFBD17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Queue and visits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19A5FAE4-A4E2-4F4F-A0FE-F6B4F42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Service selection, queue admission and recent visits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4F00A81-727E-4EA1-80AD-5A3B26F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F4FB0-3F50-4FF4-8C45-CB07182118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7da7631894f35"/>
          <a:stretch xmlns:a="http://schemas.openxmlformats.org/drawingml/2006/main"/>
        </p:blipFill>
        <p:spPr>
          <a:xfrm xmlns:a="http://schemas.openxmlformats.org/drawingml/2006/main">
            <a:off x="2120048" y="1524000"/>
            <a:ext cx="1099990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5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46C2BD-33BE-41AC-8D83-8B7D2165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Visit status and history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7C58FF09-5F3F-46F8-9F64-F3C6D104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Waiting position, visit origin and available actions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DA2C9BB-2CCD-4E4F-85EC-F6D5C5F8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C61A2-3102-4015-846A-201EAD79A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88586744e43a5"/>
          <a:srcRect xmlns:a="http://schemas.openxmlformats.org/drawingml/2006/main" l="22600" t="50500" r="3300" b="8600"/>
          <a:stretch xmlns:a="http://schemas.openxmlformats.org/drawingml/2006/main"/>
        </p:blipFill>
        <p:spPr>
          <a:xfrm xmlns:a="http://schemas.openxmlformats.org/drawingml/2006/main">
            <a:off x="952500" y="1809750"/>
            <a:ext cx="13335000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99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5F32A6E-A7C4-4219-8929-DE77BDE0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Appointments and check-in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3AA31FF7-64E9-4015-BF1D-C08D423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The appointment page on mobile and a recorded check-in confirmation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F354D98-A2B2-49F5-A146-17E6CD2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3CAA4-E3E3-408B-B646-6AAF5A482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c52ce1e1a4721"/>
          <a:stretch xmlns:a="http://schemas.openxmlformats.org/drawingml/2006/main"/>
        </p:blipFill>
        <p:spPr>
          <a:xfrm xmlns:a="http://schemas.openxmlformats.org/drawingml/2006/main">
            <a:off x="914400" y="1672590"/>
            <a:ext cx="2857500" cy="6179820"/>
          </a:xfrm>
          <a:prstGeom xmlns:a="http://schemas.openxmlformats.org/drawingml/2006/main" prst="rect">
            <a:avLst/>
          </a:prstGeom>
        </p:spPr>
      </p:pic>
      <p:sp>
        <p:nvSpPr>
          <p:cNvPr id="5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1ABBF02-117D-4BE8-89F6-2F457C5F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811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6B66"/>
                </a:solidFill>
                <a:latin typeface="Arial"/>
                <a:ea typeface="Arial"/>
                <a:cs typeface="Arial"/>
              </a:rPr>
              <a:t>Check-in confirmation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DB61-9355-445E-815F-0C53D0554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28f10371545f9"/>
          <a:stretch xmlns:a="http://schemas.openxmlformats.org/drawingml/2006/main"/>
        </p:blipFill>
        <p:spPr>
          <a:xfrm xmlns:a="http://schemas.openxmlformats.org/drawingml/2006/main">
            <a:off x="5008085" y="2381250"/>
            <a:ext cx="8938579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capture-date">
            <a:extLst xmlns:a="http://schemas.openxmlformats.org/drawingml/2006/main">
              <a:ext uri="{FF2B5EF4-FFF2-40B4-BE49-F238E27FC236}">
                <a16:creationId xmlns:a16="http://schemas.microsoft.com/office/drawing/2014/main" id="{669495D0-704A-4B61-B3D1-9851536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7533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Earlier test capture, 11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89949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2B2EA9-C6E3-4461-840E-643018D2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4A5D2CAB-F17A-43DF-8F7C-40CB331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Unread counts and controls to mark individual or visible updates as read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C0E47D8-5E2A-4511-9469-A61ECB7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81808-A8F3-47BE-BFF6-67B83C3A6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00cc206f94e19"/>
          <a:stretch xmlns:a="http://schemas.openxmlformats.org/drawingml/2006/main"/>
        </p:blipFill>
        <p:spPr>
          <a:xfrm xmlns:a="http://schemas.openxmlformats.org/drawingml/2006/main">
            <a:off x="2120048" y="1524000"/>
            <a:ext cx="1099990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9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D7A94E-78BE-4FCA-8B31-BBF1DC0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Interrupted request recovery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ADF0E13D-00AC-41DF-A346-9EDED14A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The page preserves the pending action and offers Retry same request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8DC9009-8663-419C-8F39-33881339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7B066-3338-4636-A76E-7BCC483C9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1ab21dfb84b9b"/>
          <a:stretch xmlns:a="http://schemas.openxmlformats.org/drawingml/2006/main"/>
        </p:blipFill>
        <p:spPr>
          <a:xfrm xmlns:a="http://schemas.openxmlformats.org/drawingml/2006/main">
            <a:off x="2120048" y="1524000"/>
            <a:ext cx="1099990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04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655F9B-83DE-4E63-8562-4992DD3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Staff console sign-in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E86D0497-8F3D-4C44-BB8F-B996B04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The JavaFX client connects staff to the shared backend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F4C76AC-9667-4329-99D5-679E0D4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tate-explanation">
            <a:extLst xmlns:a="http://schemas.openxmlformats.org/drawingml/2006/main">
              <a:ext uri="{FF2B5EF4-FFF2-40B4-BE49-F238E27FC236}">
                <a16:creationId xmlns:a16="http://schemas.microsoft.com/office/drawing/2014/main" id="{E67A9D9D-B8F5-4E41-A5B5-4B0E5E1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B66"/>
                </a:solidFill>
                <a:latin typeface="Arial"/>
                <a:ea typeface="Arial"/>
                <a:cs typeface="Arial"/>
              </a:rPr>
              <a:t>Backend address and staff credentials open the operations console.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3059B-DFBD-4497-B2A1-2951E64A5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24e0372b2458f"/>
          <a:stretch xmlns:a="http://schemas.openxmlformats.org/drawingml/2006/main"/>
        </p:blipFill>
        <p:spPr>
          <a:xfrm xmlns:a="http://schemas.openxmlformats.org/drawingml/2006/main">
            <a:off x="4381244" y="1543050"/>
            <a:ext cx="971601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5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7287CB-8629-4E1D-85E0-D7642FBB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Staff queue before dispatch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7B05748A-A61A-476B-B224-63E2E399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JavaFX test console with a waiting visit and an unclaimed counter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B483793-CAAE-4F27-8ACE-5B615BD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state-explanation">
            <a:extLst xmlns:a="http://schemas.openxmlformats.org/drawingml/2006/main">
              <a:ext uri="{FF2B5EF4-FFF2-40B4-BE49-F238E27FC236}">
                <a16:creationId xmlns:a16="http://schemas.microsoft.com/office/drawing/2014/main" id="{F1515014-6E8F-4935-A9B8-AFAAEDB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B66"/>
                </a:solidFill>
                <a:latin typeface="Arial"/>
                <a:ea typeface="Arial"/>
                <a:cs typeface="Arial"/>
              </a:rPr>
              <a:t>One visit is waiting. The counter has no active token.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48392-E020-49C9-889E-5DE40F088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2f2a2465340cb"/>
          <a:stretch xmlns:a="http://schemas.openxmlformats.org/drawingml/2006/main"/>
        </p:blipFill>
        <p:spPr>
          <a:xfrm xmlns:a="http://schemas.openxmlformats.org/drawingml/2006/main">
            <a:off x="4381244" y="1543050"/>
            <a:ext cx="971601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46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96A38B1-AC9D-401C-AB85-BF8790C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Called visit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29C126B1-68B9-41C9-9C6D-2773092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JavaFX test console after Call next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46C7DDA-C830-410F-B492-04002ADC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state-explanation">
            <a:extLst xmlns:a="http://schemas.openxmlformats.org/drawingml/2006/main">
              <a:ext uri="{FF2B5EF4-FFF2-40B4-BE49-F238E27FC236}">
                <a16:creationId xmlns:a16="http://schemas.microsoft.com/office/drawing/2014/main" id="{0770D561-9AA3-4F19-8308-0EEA359C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B66"/>
                </a:solidFill>
                <a:latin typeface="Arial"/>
                <a:ea typeface="Arial"/>
                <a:cs typeface="Arial"/>
              </a:rPr>
              <a:t>The visit is CALLED. Start service is available for the claimed counter.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8CCEF-ADEB-4D12-9900-CE3E122EF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9a9d72ca64830"/>
          <a:stretch xmlns:a="http://schemas.openxmlformats.org/drawingml/2006/main"/>
        </p:blipFill>
        <p:spPr>
          <a:xfrm xmlns:a="http://schemas.openxmlformats.org/drawingml/2006/main">
            <a:off x="4381244" y="1543050"/>
            <a:ext cx="971601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886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89CC36-CA2F-43F6-9F7A-1B92BC74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3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F39"/>
                </a:solidFill>
                <a:latin typeface="Arial"/>
                <a:ea typeface="Arial"/>
                <a:cs typeface="Arial"/>
              </a:rPr>
              <a:t>Completed visit</a:t>
            </a:r>
          </a:p>
        </p:txBody>
      </p:sp>
      <p:sp>
        <p:nvSpPr>
          <p:cNvPr id="2" name="caption">
            <a:extLst xmlns:a="http://schemas.openxmlformats.org/drawingml/2006/main">
              <a:ext uri="{FF2B5EF4-FFF2-40B4-BE49-F238E27FC236}">
                <a16:creationId xmlns:a16="http://schemas.microsoft.com/office/drawing/2014/main" id="{D510F668-BCF3-4C69-B77D-70165D2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JavaFX test console after service completion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53E96F4-DF7B-4B92-8254-7CDF14D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7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state-explanation">
            <a:extLst xmlns:a="http://schemas.openxmlformats.org/drawingml/2006/main">
              <a:ext uri="{FF2B5EF4-FFF2-40B4-BE49-F238E27FC236}">
                <a16:creationId xmlns:a16="http://schemas.microsoft.com/office/drawing/2014/main" id="{F6902CE6-CE2B-4657-9031-081C04A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B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B66"/>
                </a:solidFill>
                <a:latin typeface="Arial"/>
                <a:ea typeface="Arial"/>
                <a:cs typeface="Arial"/>
              </a:rPr>
              <a:t>The row shows COMPLETED. The counter has no active token.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52E2C-4B77-4FA2-BDF3-85621BFA8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bbcba8fcc4d59"/>
          <a:stretch xmlns:a="http://schemas.openxmlformats.org/drawingml/2006/main"/>
        </p:blipFill>
        <p:spPr>
          <a:xfrm xmlns:a="http://schemas.openxmlformats.org/drawingml/2006/main">
            <a:off x="4381244" y="1543050"/>
            <a:ext cx="9716013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1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2026-10-20T15:47:45.4900000Z</dcterms:created>
  <dcterms:modified xsi:type="dcterms:W3CDTF">2026-10-20T15:47:45.4900000Z</dcterms:modified>
</coreProperties>
</file>